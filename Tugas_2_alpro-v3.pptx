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9"/>
    <p:sldId id="269" r:id="rId20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4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772400" y="0"/>
            <a:ext cx="4419295" cy="6858000"/>
          </a:xfrm>
          <a:prstGeom prst="rtTriangl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Georgia"/>
              </a:defRPr>
            </a:pPr>
            <a:r>
              <a:t>Python Fundamentals</a:t>
            </a:r>
          </a:p>
          <a:p>
            <a:pPr>
              <a:spcBef>
                <a:spcPts val="800"/>
              </a:spcBef>
              <a:defRPr sz="2200">
                <a:solidFill>
                  <a:srgbClr val="0D9488"/>
                </a:solidFill>
                <a:latin typeface="Verdana"/>
              </a:defRPr>
            </a:pPr>
            <a:r>
              <a:t>Dasar-Dasar Variabel, Tipe Data, dan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64748B"/>
                </a:solidFill>
                <a:latin typeface="Verdana"/>
              </a:defRPr>
            </a:pPr>
            <a:r>
              <a:t>Oleh Presenter:</a:t>
            </a:r>
          </a:p>
          <a:p>
            <a:pPr>
              <a:spcAft>
                <a:spcPts val="200"/>
              </a:spcAft>
              <a:defRPr sz="1400">
                <a:solidFill>
                  <a:srgbClr val="F1F5F9"/>
                </a:solidFill>
                <a:latin typeface="Verdana"/>
              </a:defRPr>
            </a:pPr>
            <a:r>
              <a:t>Nama: Azzura Fairuz Zulfahri</a:t>
            </a:r>
          </a:p>
          <a:p>
            <a:pPr>
              <a:spcAft>
                <a:spcPts val="200"/>
              </a:spcAft>
              <a:defRPr sz="1400">
                <a:solidFill>
                  <a:srgbClr val="F1F5F9"/>
                </a:solidFill>
                <a:latin typeface="Verdana"/>
              </a:defRPr>
            </a:pPr>
            <a:r>
              <a:t>NIM:  40040326650027</a:t>
            </a:r>
          </a:p>
          <a:p>
            <a:pPr>
              <a:spcAft>
                <a:spcPts val="200"/>
              </a:spcAft>
              <a:defRPr sz="1400">
                <a:solidFill>
                  <a:srgbClr val="F1F5F9"/>
                </a:solidFill>
                <a:latin typeface="Verdana"/>
              </a:defRPr>
            </a:pPr>
            <a:r>
              <a:t>Prodi: Teknologi Rekayasa Otomasi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Mengenal Variabel &amp; Aturan Penamaan PEP8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Apa itu Variabel?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Verdana"/>
              </a:defRPr>
            </a:pPr>
            <a:r>
              <a:t>Variabel adalah referensi dari sebuah nilai (value) yang berfungsi seperti wadah untuk menampung suatu data dalam program.</a:t>
            </a:r>
          </a:p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  <a:latin typeface="Verdana"/>
              </a:defRPr>
            </a:pPr>
            <a:r>
              <a:t>Sifat Penting Variabel di Python: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Dynamic Typing: Tidak perlu menuliskan tipe data saat membuat variabel.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Case-Sensitive: Membedakan huruf besar dan huruf kecil (contoh: 'Nama' beda dengan 'nama').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Mutable Value: Nilai di dalam wadah dapat diganti kapan saja.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600200"/>
            <a:ext cx="493776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Sintaks yang Benar (Do's) ✅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Diawali dengan huruf atau underscore: nama, _angka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Disarankan menggunakan snake_case: total_harga, nama_saya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Hanya berisi karakter alfanumerik dan underscore (A-z, 0-9, _)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3977640"/>
            <a:ext cx="4937760" cy="19202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Sintaks yang Salah (Don'ts) ❌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Diawali dengan angka: 1_nama = "Azzura"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Menggunakan spasi: total harga = 5000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Menggunakan reserved keywords Python: class = "bahasa" (menyebabkan program error)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Pemberian Nilai &amp; Dinamisasi Variabel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Perbandingan Dynamic Typing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Bahasa statis (seperti C++) membutuhkan penulisan tipe data secara eksplisit sebelum variabel dibuat. Python secara otomatis menentukan tipe data berdasarkan nilai yang diisikan.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C++ (Static Typing)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int nilai_saya = 100;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string nama = "Azzura";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1097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Python (Dynamic Typing)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nilai_saya = 100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nama = "Azzura"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Manipulasi Nilai Variabel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1. Penimpaan Nilai (Overwriting)</a:t>
            </a:r>
            <a:br/>
            <a:r>
              <a:t>Nilai variabel dapat ditimpa dengan nilai baru kapan saja. Nilai terakhirlah yang akan disimpan di memori.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2. Multiple Assignment (Penugasan Ganda)</a:t>
            </a:r>
            <a:br/>
            <a:r>
              <a:t>Kita dapat memberikan nilai ke beberapa variabel sekaligus dalam satu baris kode untuk menghemat tempat.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Overwriting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= 10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= 20  # nilai x sekarang adalah 20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Multiple Assignment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a = b = c = 200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x, y, z = 1, 2,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Ruang Lingkup Variabel: Global vs Lokal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1. Variabel Global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Variabel yang dideklarasikan di luar fungsi utama program. Bersifat universal dan dapat diakses maupun digunakan oleh seluruh bagian kode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Variabel Global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= 10  # Dideklarasikan di luar fungsi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def fungsi_saya():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    # x bisa diakses langsung di dalam fungsi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    print("Mengakses x di dalam fungsi:", x)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fungsi_saya()  # Output: 10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print("Mengakses x di luar fungsi:", x) # Output: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2. Variabel Lokal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Variabel yang dideklarasikan di dalam sebuah fungsi tertentu. Hanya berlaku di dalam fungsi tersebut dan tidak dapat diakses dari luar fungsi.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120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Variabel Lokal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def fungsi_kedua():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    y = 5  # y adalah variabel lokal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    print("y di dalam fungsi:", y)  # Output: 5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fungsi_kedua()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Memanggil y di luar fungsi akan menyebabkan ERROR!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print(y)  # NameError: name 'y' is not defined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Klasifikasi &amp; Contoh Tipe Data (Teks &amp; Angka)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E293B"/>
                </a:solidFill>
                <a:latin typeface="Verdana"/>
              </a:defRPr>
            </a:pPr>
            <a:r>
              <a:t>Tipe data mendefinisikan jenis variabel. Kita dapat menggunakan fungsi bawaan type() untuk mengetahui tipe data suatu variabel.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String (str) - Karakter/Teks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Untuk representasi huruf, kata, kalimat, atau simbol.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Ditulis dengan tanda kutip tunggal (' ') atau ganda (" ").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nama_mahasiswa = "Azzura Fairuz Zulfahri"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prodi = 'Teknologi Rekayasa Otomasi'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1488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Integer (int) - Bilangan Bulat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Menampung angka bulat positif atau negatif tanpa pecahan.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Sangat umum digunakan untuk perhitungan matematika biasa.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nim_akhir = 27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tahun_masuk =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Float (float) - Bilangan Pecahan/Desimal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Mengandung komponen pecahan yang ditulis dengan tanda titik (.).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Berguna untuk menghasilkan nilai secara detail/presisi.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tinggi_badan = 170.5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ipk = 3.85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0624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4340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Complex (complex) - Bilangan Kompleks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Terdiri dari bagian riil dan imajiner, diakhiri dengan huruf 'j'.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Sering digunakan untuk analisis teknik dan matematika lanjut.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koordinat = 1.5 + 2j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imajiner_murni = complex(2j)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Klasifikasi &amp; Contoh Tipe Data (Koleksi / Urutan)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List (list)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Kumpulan elemen terurut yang bersifat mutable (bisa diubah).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Ditulis menggunakan kurung siku [ ].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Bisa menampung berbagai tipe data sekaligus.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siswa = ['woody', 'buzz', 'andy']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nilai_siswa = [12, 13, 14]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Tuple (tuple)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Kumpulan elemen terurut yang bersifat immutable (tidak bisa diubah).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Ditulis menggunakan tanda kurung biasa ( 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Sangat aman untuk menyimpan data konstan yang tidak boleh diedit.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nama_bulan = ('Januari', 'Februari', 'Maret')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nilai_tetap = (12, 13, 14)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Set (set)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Kumpulan elemen unik, tidak terurut, dan mutable.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Ditulis dengan kurung kurawal { }.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Mendukung operasi himpunan matematika (irisan, gabungan).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angka_unik = {1, 2, 3, 3}  # Hasil: {1, 2, 3}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siswa_set = {'buzz', 'andy', 'woody'}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776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FrozenSet (frozenset)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Mirip dengan Set, namun bersifat immutable (tidak bisa diubah).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Elemen tidak bisa ditambah atau dihapus setelah dibuat.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list_nama = ['woody', 'buzz', 'andy']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f_set = frozenset(list_nama)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Klasifikasi &amp; Contoh Tipe Data (Pemetaan &amp; Biner)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Dictionary (dict) - Pemetaan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Array terstruktur dengan pasangan Key (Kunci) dan Value (Nilai).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Sangat mirip dengan format JSON.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Key dapat berupa tipe data String atau Angka.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hari = {'sen': 'senin', 'sel': 'selasa'}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mhs = {'nama': 'Azzura', 'nim': 40040326650027}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Bytes (bytes) - Biner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Objek berisikan array biner tunggal (byte) bersifat immutable.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Sering digunakan untuk transmisi data mentah tingkat rendah.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data_biner = bytes(12)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b_string = b'Hallo'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ByteArray (bytearray) - Biner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Objek array byte tunggal mirip bytes, namun bersifat mutable.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Dapat dimodifikasi/diubah nilainya setelah dibuat.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mutable_bytes = bytearray(12)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mutable_bytes[0] = 65  # Mengubah isi byte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77640"/>
            <a:ext cx="4846320" cy="1645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MemoryView (memoryview) - Biner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Cara aman mengekspos buffer internal objek biner.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Mengakses buffer memori objek lain tanpa menyalin datanya.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data_buffer = bytes(12)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Contoh: m_view = memoryview(data_buffer)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Operator Aritmatika &amp; Operator Penugasan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1. Operator Aritmatika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Digunakan untuk melakukan operasi matematika dasar. Simbol yang digunakan meliputi: + (tambah), - (kurang), * (kali), / (bagi), ** (pangkat), % (modulus), dan // (floor division).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1206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Operator Aritmatika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print(6 + 2)   # Hasil: 8   (Penambahan)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print(6 * 2)   # Hasil: 12  (Perkalian)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print(6 / 2)   # Hasil: 3.0  (Pembagian Float)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print(6 ** 2)  # Hasil: 36  (Perpangkatan)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print(5 % 2)   # Hasil: 1   (Modulus / Sisa Bagi)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print(10 // 3) # Hasil: 3   (Floor Division / Bulat)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2. Operator Penugasan (Assignment)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Digunakan untuk memberikan/menetapkan nilai ke dalam variabel secara langsung atau menggabungkannya dengan operasi matematika terlebih dahulu.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Operator Penugasan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= 5     # Menetapkan nilai x sebesar 5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+= 3    # Sama dengan x = x + 3 -&gt; Hasil: 8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-= 2    # Sama dengan x = x - 2 -&gt; Hasil: 6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*= 3    # Sama dengan x = x * 3 -&gt; Hasil: 18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/= 2    # Sama dengan x = x / 2 -&gt; Hasil: 9.0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%= 3    # Sama dengan x = x % 3 -&gt; Hasil: 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Operator Perbandingan, Logika, &amp; Keanggotaan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Perbandingan &amp; Logika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Operator Perbandingan membandingkan 2 nilai dan menghasilkan True/False (==, !=, &gt;, &lt;, &gt;=, &lt;=). Operator Logika menggabungkan pernyataan logika (and, or, not).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1206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Perbandingan &amp; Logika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print(2 &lt; 3)   # Output: True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print(2 == 3)  # Output: False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print(2 != 3)  # Output: True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Operator Logika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print(3 &lt; 5 and 5 &gt; 3) # Output: True (kedua True)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print(True or False)   # Output: True (salah satu True)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print(not True)        # Output: False (membalikkan)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Operator Keanggotaan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Menggunakan keyword 'in' dan 'not in' untuk memeriksa apakah sebuah nilai merupakan bagian dari tipe data koleksi (seperti list, tuple, set, atau dictionary).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Operator Keanggotaan (Membership)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bahasa = ["JavaScript", "Java", "Python", "Dart"]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Memeriksa elemen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print("Python" in bahasa)     # Output: True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print("Indonesia" in bahasa)  # Output: False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Menggunakan 'not in'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print("C++" not in bahasa)     # Output: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Operator Identitas &amp; Operator Bitwise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1. Operator Identitas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Menggunakan keyword 'is' dan 'is not' untuk membandingkan apakah dua variabel merujuk pada objek dan lokasi memori yang sama.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51206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Operator Identitas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x = 3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y = 7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print(x is y)      # Output: False (Objek memori beda)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print(x is not y)  # Output: True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validasi tipe data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y_tipe = type(y)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print(y_tipe is int) # Output: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2. Operator Bitwise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Digunakan untuk melakukan operasi langsung pada level bit (biner). Nilai desimal diubah ke biner terlebih dahulu, diproses bit demi bit, lalu dikonversi kembali ke desimal.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21208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Contoh Operator Bitwise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angka_saya = 10  # Biner: 1010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1. Bitwise NOT (~)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print(~angka_saya)   # Output: -11 (-(10+1))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2. Bitwise Right Shift (&gt;&gt;)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print(angka_saya &gt;&gt; 1)  # Output: 5  (Biner 0101)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3. Bitwise Left Shift (&lt;&lt;)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print(angka_saya &lt;&lt; 1)  # Output: 20 (Biner 10100)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Komentar dan Dokumentasi Kode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Fungsi Komentar dalam Program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Komentar adalah baris kode yang diabaikan dan tidak dijalankan oleh program compiler/interpreter Python.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Meningkatkan Keterbacaan Kode agar mudah dipahami orang lain.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Membantu Debugging / Testing untuk menonaktifkan baris kode tertentu tanpa menghapusnya.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Verdana"/>
              </a:defRPr>
            </a:pPr>
            <a:r>
              <a:t>• Memberikan dokumentasi resmi mengenai fungsi, class, atau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3 Jenis Komentar di 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377440"/>
            <a:ext cx="521208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1. Single-Line Comment (Menggunakan tanda pagar)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Ini komentar satu baris yang diabaikan program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2. Multi-Line Comment (Beberapa tanda pagar)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Ini baris komentar pertama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Ini baris komentar kedua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# 3. Docstring (Tanda kutip tiga kali)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"""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Ini adalah docstring.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Biasa diletakkan di awal modul atau fungsi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untuk keperluan dokumentasi otomatis.</a:t>
            </a:r>
          </a:p>
          <a:p>
            <a:pPr>
              <a:spcAft>
                <a:spcPts val="200"/>
              </a:spcAft>
              <a:defRPr sz="1200">
                <a:solidFill>
                  <a:srgbClr val="094F48"/>
                </a:solidFill>
                <a:latin typeface="Consolas"/>
              </a:defRPr>
            </a:pPr>
            <a:r>
              <a:t>"""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Program Sederhana: Menjumlahkan Dua Angka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Alur Pembuatan Program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1. Meminta Input Pertama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475569"/>
                </a:solidFill>
                <a:latin typeface="Verdana"/>
              </a:defRPr>
            </a:pPr>
            <a:r>
              <a:t>Program meminta user memasukkan angka kesatu melalui terminal menggunakan fungsi input() dan langsung dikonversi menjadi tipe numerik.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2. Meminta Input Kedua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475569"/>
                </a:solidFill>
                <a:latin typeface="Verdana"/>
              </a:defRPr>
            </a:pPr>
            <a:r>
              <a:t>Sama seperti langkah pertama, meminta input angka kedua dan menyimpannya di variabel baru secara dinamis.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3. Mengkalkulasi Jumlah (Operasi)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50" b="0">
                <a:solidFill>
                  <a:srgbClr val="475569"/>
                </a:solidFill>
                <a:latin typeface="Verdana"/>
              </a:defRPr>
            </a:pPr>
            <a:r>
              <a:t>Menggunakan operator aritmatika penjumlahan (+) untuk menjumlahkan variabel pertama dan kedua, lalu menyimpannya dalam variabel 'hasil_jumlah'.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172A"/>
                </a:solidFill>
                <a:latin typeface="Verdana"/>
              </a:defRPr>
            </a:pPr>
            <a:r>
              <a:t>4. Mencetak Hasil (Output)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475569"/>
                </a:solidFill>
                <a:latin typeface="Verdana"/>
              </a:defRPr>
            </a:pPr>
            <a:r>
              <a:t>Menampilkan hasil kalkulasi ke terminal menggunakan fungsi print() dengan format kalimat yang informatif.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55448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3855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Implementasi Kode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22415" y="2286000"/>
            <a:ext cx="50292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3855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50" b="0">
                <a:solidFill>
                  <a:srgbClr val="0F172A"/>
                </a:solidFill>
                <a:latin typeface="Courier New"/>
              </a:defRPr>
            </a:pPr>
            <a:r>
              <a:t># 1. Meminta input angka dari user</a:t>
            </a:r>
            <a:br/>
            <a:r>
              <a:t>angka1 = int(input("Masukkan angka kesatu: "))</a:t>
            </a:r>
            <a:br/>
            <a:r>
              <a:t>angka2 = int(input("Masukkan angka kedua:  "))</a:t>
            </a:r>
            <a:br/>
            <a:br/>
            <a:r>
              <a:t># 2. Menghitung jumlah menggunakan operator (+)</a:t>
            </a:r>
            <a:br/>
            <a:r>
              <a:t>hasil_jumlah = angka1 + angka2</a:t>
            </a:r>
            <a:br/>
            <a:br/>
            <a:r>
              <a:t># 3. Mencetak hasil ke layar terminal</a:t>
            </a:r>
            <a:br/>
            <a:r>
              <a:t>print("Hasil penjumlahan =", hasil_jumlah)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Georgia"/>
              </a:defRPr>
            </a:pPr>
            <a:r>
              <a:t>Project Mandiri: Available to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t>1. Input Data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50" b="1">
                <a:solidFill>
                  <a:srgbClr val="0F172A"/>
                </a:solidFill>
                <a:latin typeface="Verdana"/>
              </a:defRPr>
            </a:pPr>
            <a:r>
              <a:t>Menyimpan Input User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5569"/>
                </a:solidFill>
                <a:latin typeface="Verdana"/>
              </a:defRPr>
            </a:pPr>
            <a:r>
              <a:t>Program mengambil data jam harian untuk mengukur sisa waktu belajar. Variabel yang digunakan: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jam_tidur (waktu tidur harian)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jam_kerja (lama jam kerja)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jam_santai_hari_kerja</a:t>
            </a:r>
          </a:p>
          <a:p>
            <a:pPr>
              <a:spcBef>
                <a:spcPts val="0"/>
              </a:spcBef>
              <a:spcAft>
                <a:spcPts val="10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jam_santai_akhir_pekan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50" b="1">
                <a:solidFill>
                  <a:srgbClr val="0F172A"/>
                </a:solidFill>
                <a:latin typeface="Verdana"/>
              </a:defRPr>
            </a:pPr>
            <a:r>
              <a:t>Menggunakan Tipe Float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Verdana"/>
              </a:defRPr>
            </a:pPr>
            <a:r>
              <a:t>Input dibungkus dengan float() agar user bisa memasukkan angka desimal (misalnya: 8.5 jam) tanpa memicu error.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091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t>2. Rumus Kalkulasi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50" b="1">
                <a:solidFill>
                  <a:srgbClr val="0F172A"/>
                </a:solidFill>
                <a:latin typeface="Verdana"/>
              </a:defRPr>
            </a:pPr>
            <a:r>
              <a:t>Logika &amp; Alur Rumus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475569"/>
                </a:solidFill>
                <a:latin typeface="Verdana"/>
              </a:defRPr>
            </a:pPr>
            <a:r>
              <a:t>Waktu sisa belajar dihitung secara matematis menggunakan rumus terstruktur berikut: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Hari Kerja (5 Hari):</a:t>
            </a:r>
            <a:br/>
            <a:r>
              <a:t>24 - tidur - kerja - santai_hk - 3</a:t>
            </a:r>
            <a:br/>
            <a:r>
              <a:t>*(Pengurangan 3 jam adalah waktu mati untuk mandi, makan, bersiap)*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Akhir Pekan (2 Hari):</a:t>
            </a:r>
            <a:br/>
            <a:r>
              <a:t>24 - tidur - santai_ap - 3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1E293B"/>
                </a:solidFill>
                <a:latin typeface="Verdana"/>
              </a:defRPr>
            </a:pPr>
            <a:r>
              <a:t>•  Total Jam Belajar Mingguan:</a:t>
            </a:r>
            <a:br/>
            <a:r>
              <a:t>(5 * jam_hk) + (2 * jam_ap)</a:t>
            </a:r>
            <a:br/>
            <a:r>
              <a:t>*(Total akumulasi 1 minggu penuh)*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8860" y="155448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41740" y="1737360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t>3. Output Program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250" b="1">
                <a:solidFill>
                  <a:srgbClr val="0F172A"/>
                </a:solidFill>
                <a:latin typeface="Verdana"/>
              </a:defRPr>
            </a:pPr>
            <a:r>
              <a:t>Tampilan &amp; Hasil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Verdana"/>
              </a:defRPr>
            </a:pPr>
            <a:r>
              <a:t>Setelah dihitung, program mencetak ringkasan lengkap waktu yang tersedia untuk belajar ke layar.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1200" b="1">
                <a:solidFill>
                  <a:srgbClr val="0F172A"/>
                </a:solidFill>
                <a:latin typeface="Verdana"/>
              </a:defRPr>
            </a:pPr>
            <a:r>
              <a:t>Contoh Potongan Kode: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6020" y="3291840"/>
            <a:ext cx="320040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1740" y="333756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950" b="0">
                <a:solidFill>
                  <a:srgbClr val="0F172A"/>
                </a:solidFill>
                <a:latin typeface="Courier New"/>
              </a:defRPr>
            </a:pPr>
            <a:r>
              <a:t># Rumus kalkulasi utama</a:t>
            </a:r>
            <a:br/>
            <a:r>
              <a:t>jam_hk = 24 - tidur - kerja - santai - 3</a:t>
            </a:r>
            <a:br/>
            <a:r>
              <a:t>jam_ap = 24 - tidur - santai_ap - 3</a:t>
            </a:r>
            <a:br/>
            <a:br/>
            <a:r>
              <a:t># Akumulasi per minggu</a:t>
            </a:r>
            <a:br/>
            <a:r>
              <a:t>total = (5 * jam_hk) + (2 * jam_ap)</a:t>
            </a:r>
            <a:br/>
            <a:br/>
            <a:r>
              <a:t>print("Total jam belajar:", total)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4419295" cy="6858000"/>
          </a:xfrm>
          <a:prstGeom prst="rtTriangl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  <a:latin typeface="Georgia"/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2000">
                <a:solidFill>
                  <a:srgbClr val="0D9488"/>
                </a:solidFill>
                <a:latin typeface="Verdana"/>
              </a:defRPr>
            </a:pPr>
            <a:r>
              <a:t>Apakah ada pertanyaan?</a:t>
            </a:r>
          </a:p>
          <a:p>
            <a:pPr algn="ctr">
              <a:defRPr sz="1400">
                <a:solidFill>
                  <a:srgbClr val="64748B"/>
                </a:solidFill>
                <a:latin typeface="Verdana"/>
              </a:defRPr>
            </a:pPr>
            <a:r>
              <a:t>Azzura Fairuz Zulfahri - Teknologi Rekayasa Otomasi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Georgia"/>
              </a:rPr>
              <a:t>Tujuan &amp; Pembahasan Presentasi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384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D9488"/>
                </a:solidFill>
                <a:latin typeface="Georgia"/>
              </a:rPr>
              <a:t>Tujuan Pembelajaran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9488"/>
                </a:solidFill>
                <a:latin typeface="Verdana"/>
              </a:rPr>
              <a:t>•  </a:t>
            </a:r>
            <a:r>
              <a:rPr b="1" sz="1300">
                <a:solidFill>
                  <a:srgbClr val="0F172A"/>
                </a:solidFill>
                <a:latin typeface="Verdana"/>
              </a:rPr>
              <a:t>Menguasai Konsep Dasar: </a:t>
            </a:r>
            <a:r>
              <a:rPr sz="1300">
                <a:solidFill>
                  <a:srgbClr val="475569"/>
                </a:solidFill>
                <a:latin typeface="Verdana"/>
              </a:rPr>
              <a:t>Memahami konsep variabel, aturan penulisan (PEP8), dynamic typing, serta ruang lingkup global vs lokal di Python.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9488"/>
                </a:solidFill>
                <a:latin typeface="Verdana"/>
              </a:rPr>
              <a:t>•  </a:t>
            </a:r>
            <a:r>
              <a:rPr b="1" sz="1300">
                <a:solidFill>
                  <a:srgbClr val="0F172A"/>
                </a:solidFill>
                <a:latin typeface="Verdana"/>
              </a:rPr>
              <a:t>Memahami Tipe Data: </a:t>
            </a:r>
            <a:r>
              <a:rPr sz="1300">
                <a:solidFill>
                  <a:srgbClr val="475569"/>
                </a:solidFill>
                <a:latin typeface="Verdana"/>
              </a:rPr>
              <a:t>Mengenal berbagai tipe data dari tekstual, numerik, sekuensial (list, tuple, set), hingga biner (bytes, memoryview).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D9488"/>
                </a:solidFill>
                <a:latin typeface="Verdana"/>
              </a:rPr>
              <a:t>•  </a:t>
            </a:r>
            <a:r>
              <a:rPr b="1" sz="1300">
                <a:solidFill>
                  <a:srgbClr val="0F172A"/>
                </a:solidFill>
                <a:latin typeface="Verdana"/>
              </a:rPr>
              <a:t>Mengimplementasikan Logika: </a:t>
            </a:r>
            <a:r>
              <a:rPr sz="1300">
                <a:solidFill>
                  <a:srgbClr val="475569"/>
                </a:solidFill>
                <a:latin typeface="Verdana"/>
              </a:rPr>
              <a:t>Mampu memanfaatkan operator aritmatika, perbandingan, logika, keanggotaan, identitas, dan bitwise dalam kode program nyata.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0D9488"/>
                </a:solidFill>
                <a:latin typeface="Georgia"/>
              </a:rPr>
              <a:t>Agenda Pembahasan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Verdana"/>
              </a:rPr>
              <a:t>1. Konsep &amp; Aturan Variabel — </a:t>
            </a:r>
            <a:r>
              <a:rPr sz="1100">
                <a:solidFill>
                  <a:srgbClr val="475569"/>
                </a:solidFill>
                <a:latin typeface="Verdana"/>
              </a:rPr>
              <a:t>Pengertian, dynamic typing, aturan PEP8, case-sensitivity, dan variabel global vs lokal.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Verdana"/>
              </a:rPr>
              <a:t>2. Ragam Tipe Data Python — </a:t>
            </a:r>
            <a:r>
              <a:rPr sz="1100">
                <a:solidFill>
                  <a:srgbClr val="475569"/>
                </a:solidFill>
                <a:latin typeface="Verdana"/>
              </a:rPr>
              <a:t>Tipe data standar (str, int, float, complex), koleksi (list, tuple, set, frozenset), pemetaan (dict), dan biner.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Verdana"/>
              </a:rPr>
              <a:t>3. Operator Pemrograman — </a:t>
            </a:r>
            <a:r>
              <a:rPr sz="1100">
                <a:solidFill>
                  <a:srgbClr val="475569"/>
                </a:solidFill>
                <a:latin typeface="Verdana"/>
              </a:rPr>
              <a:t>Operator aritmatika, penugasan, perbandingan, logika, keanggotaan, identitas, dan bitwise.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Verdana"/>
              </a:rPr>
              <a:t>4. Komentar &amp; Dokumentasi — </a:t>
            </a:r>
            <a:r>
              <a:rPr sz="1100">
                <a:solidFill>
                  <a:srgbClr val="475569"/>
                </a:solidFill>
                <a:latin typeface="Verdana"/>
              </a:rPr>
              <a:t>Pemanfaatan single-line, multi-line, dan docstring untuk mempermudah pemahaman kode.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0F172A"/>
                </a:solidFill>
                <a:latin typeface="Verdana"/>
              </a:rPr>
              <a:t>5. Studi Kasus &amp; Project — </a:t>
            </a:r>
            <a:r>
              <a:rPr sz="1100">
                <a:solidFill>
                  <a:srgbClr val="475569"/>
                </a:solidFill>
                <a:latin typeface="Verdana"/>
              </a:rPr>
              <a:t>Latihan membuat program penjumlahan angka interaktif dan merancang project 'Available to Study'.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